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57" r:id="rId4"/>
    <p:sldId id="266" r:id="rId5"/>
    <p:sldId id="259" r:id="rId6"/>
    <p:sldId id="265" r:id="rId7"/>
    <p:sldId id="262" r:id="rId8"/>
    <p:sldId id="261" r:id="rId9"/>
    <p:sldId id="264" r:id="rId10"/>
    <p:sldId id="263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4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7D8648-D697-4D28-78F7-9F0855B39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7836460-4ADA-1556-1802-DF0CE8C99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EA0F6F-9802-FA94-394A-6CF8951C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CF656E-40E7-B77E-35DF-E415AFEF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99C983-35C7-ED92-E101-DDF7EE70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287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53297D-45B5-DCF6-2CBC-6ADD874F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3E3C04-766D-B79A-CC1B-B357A32D7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BCC932-97D7-75B7-53F1-6CA80F20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509F3A-B79F-2B94-514C-060E9AE4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88C4EA-5361-96D9-EBF5-C344571D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837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C166FF-CD09-BE9C-1EF5-178AC8495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20CFED-FFDA-60F5-C3F7-C5A719A32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5053CB-6BA0-D7BB-9A83-EA6019D4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DEA5C3-28D5-9DDE-FD4C-78499A4A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083B56-25D7-2D74-8EB8-FB8934C9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95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987FC5-45E3-C98D-6988-65A41E0C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4293E3-086B-68B7-976D-D496759A0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9D89B19-A29D-633C-D1E0-AA1734600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A5EEE2-0CB6-0632-BD6D-793BBC8C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100D8D-3D63-A0B0-1E87-3953E058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88BB24-34F4-60EE-9E31-EB280273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872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4A9C9-4FF9-3382-FD3A-5ED369F81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962CF0-D0D6-AD96-27D0-4C983BF14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DF6334-6E18-5F3A-B587-8ABF11261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339CB33-EC84-F0AF-82A6-D4323B88F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31589D-F505-A06C-5037-DDF6A2807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B70011C-7FF3-0514-D53A-17C40321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3F0E14D-F224-1822-2F01-6F2C8D40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E1693AA-BDB5-AD64-F065-CCE8CE4B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84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864AE-03FD-1273-DB29-4F292C80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D280B8-B7CF-B8A0-BF98-20D2809C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E826CF-B193-CE93-F438-932EFBF9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C03D94A-5A12-078B-5B08-B9BBB50C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48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C2843BD-7603-EE7A-FCA6-9A985D2A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E0852A1-FBFB-A0DD-3221-48F0BF06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8847A8-4CE2-02EF-063C-B51A1201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836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A3916A-2877-E51B-646A-443BC3E8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509D49-C167-A1E9-6B7A-07D21CE4A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B76632-9F07-EE60-87BA-9A53BAEBA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75D1C01-E1A2-B960-1E29-411DDF72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0026E5-1DB0-EFA8-E592-2EBD8B9F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88653DE-D3D5-17A4-0371-FBE9AC19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232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40B10A-A98B-E3E6-B5C9-99B44CC9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3FA74FB-0400-8413-965D-AA4CDA3E3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BC0E1EF-5E6B-4B1F-32F9-9A512DDE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963463-620D-F640-DC82-7A777B04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270460-6376-7719-142A-6BC3EA2F9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1FBCD6-3D0C-04AA-1276-1EA77CA2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344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E39B03-E72E-EF07-7DFE-32DCFC2D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AD45457-D9E1-B6C2-0858-E9651894E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3FE575-4445-66CA-6F6C-F76BE9AB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E64F2-3E81-93C8-DFE6-74701086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74471-D02C-9FFA-8827-F8A73908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98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E616819-44D2-F9F7-2F04-7146ED954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EBB139E-7D3F-5F92-C45D-D81D9E5CB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0CE535-4FFD-D6C2-3A08-9579417A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16D8F-865F-7515-FACF-7A598DD5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C067E5-60DD-DDF4-50B5-F9319D0D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214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6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98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0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52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79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30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273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49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690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2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122CFD7-D290-92FB-D8CA-6CAB62A5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DD12ED-EAD6-24FC-B18B-396DACC99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61727C-4657-FDE6-016C-3506B6E7F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78DDB-F857-4E54-817A-0546DC14AEF5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C58C49-3F03-80D2-79B5-B5D24C725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71705A-6088-7CAD-D2BD-ABA06684A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95C99-372E-419C-A97F-E2004C63D7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11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3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65791" y="353231"/>
            <a:ext cx="2461573" cy="4960133"/>
          </a:xfrm>
          <a:custGeom>
            <a:avLst/>
            <a:gdLst/>
            <a:ahLst/>
            <a:cxnLst/>
            <a:rect l="l" t="t" r="r" b="b"/>
            <a:pathLst>
              <a:path w="3692359" h="7440200">
                <a:moveTo>
                  <a:pt x="0" y="0"/>
                </a:moveTo>
                <a:lnTo>
                  <a:pt x="3692359" y="0"/>
                </a:lnTo>
                <a:lnTo>
                  <a:pt x="3692359" y="7440200"/>
                </a:lnTo>
                <a:lnTo>
                  <a:pt x="0" y="744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44" t="-23633" r="-160214" b="-23490"/>
            </a:stretch>
          </a:blipFill>
        </p:spPr>
        <p:txBody>
          <a:bodyPr/>
          <a:lstStyle/>
          <a:p>
            <a:pPr defTabSz="609630"/>
            <a:endParaRPr lang="it-IT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502803" y="1690592"/>
            <a:ext cx="2376398" cy="4784695"/>
          </a:xfrm>
          <a:custGeom>
            <a:avLst/>
            <a:gdLst/>
            <a:ahLst/>
            <a:cxnLst/>
            <a:rect l="l" t="t" r="r" b="b"/>
            <a:pathLst>
              <a:path w="3564597" h="7177042">
                <a:moveTo>
                  <a:pt x="0" y="0"/>
                </a:moveTo>
                <a:lnTo>
                  <a:pt x="3564597" y="0"/>
                </a:lnTo>
                <a:lnTo>
                  <a:pt x="3564597" y="7177042"/>
                </a:lnTo>
                <a:lnTo>
                  <a:pt x="0" y="717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697" t="-23558" r="-35932" b="-23270"/>
            </a:stretch>
          </a:blipFill>
        </p:spPr>
        <p:txBody>
          <a:bodyPr/>
          <a:lstStyle/>
          <a:p>
            <a:pPr defTabSz="609630"/>
            <a:endParaRPr lang="it-IT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2939" y="2561555"/>
            <a:ext cx="5533061" cy="104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8117"/>
              </a:lnSpc>
            </a:pPr>
            <a:r>
              <a:rPr lang="en-US" sz="9224" b="1" spc="-387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TEDx</a:t>
            </a:r>
            <a:r>
              <a:rPr lang="en-US" sz="9224" b="1" spc="-387">
                <a:solidFill>
                  <a:srgbClr val="14151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4081" y="3802157"/>
            <a:ext cx="3526870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105"/>
              </a:lnSpc>
            </a:pPr>
            <a:r>
              <a:rPr lang="en-US" sz="3539" spc="-77" dirty="0" err="1">
                <a:solidFill>
                  <a:srgbClr val="141519"/>
                </a:solidFill>
                <a:latin typeface="Arial MT Pro"/>
                <a:ea typeface="Arial MT Pro"/>
                <a:cs typeface="Arial MT Pro"/>
                <a:sym typeface="Arial MT Pro"/>
              </a:rPr>
              <a:t>dai</a:t>
            </a:r>
            <a:r>
              <a:rPr lang="en-US" sz="3539" spc="-77" dirty="0">
                <a:solidFill>
                  <a:srgbClr val="141519"/>
                </a:solidFill>
                <a:latin typeface="Arial MT Pro"/>
                <a:ea typeface="Arial MT Pro"/>
                <a:cs typeface="Arial MT Pro"/>
                <a:sym typeface="Arial MT Pro"/>
              </a:rPr>
              <a:t> libri alle idee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2770" y="5838444"/>
            <a:ext cx="354870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623"/>
              </a:lnSpc>
            </a:pPr>
            <a:r>
              <a:rPr lang="en-US" sz="1399" spc="-31" dirty="0">
                <a:solidFill>
                  <a:srgbClr val="76777E"/>
                </a:solidFill>
                <a:latin typeface="Arial MT Pro"/>
                <a:ea typeface="Arial MT Pro"/>
                <a:cs typeface="Arial MT Pro"/>
                <a:sym typeface="Arial MT Pro"/>
              </a:rPr>
              <a:t>Gandolfi Leonardo 1086657</a:t>
            </a:r>
          </a:p>
          <a:p>
            <a:pPr defTabSz="609630">
              <a:lnSpc>
                <a:spcPts val="1623"/>
              </a:lnSpc>
            </a:pPr>
            <a:r>
              <a:rPr lang="en-US" sz="1399" spc="-31" dirty="0">
                <a:solidFill>
                  <a:srgbClr val="76777E"/>
                </a:solidFill>
                <a:latin typeface="Arial MT Pro"/>
                <a:ea typeface="Arial MT Pro"/>
                <a:cs typeface="Arial MT Pro"/>
                <a:sym typeface="Arial MT Pro"/>
              </a:rPr>
              <a:t>Morgera Claudio 1093069</a:t>
            </a:r>
          </a:p>
          <a:p>
            <a:pPr defTabSz="609630">
              <a:lnSpc>
                <a:spcPts val="1623"/>
              </a:lnSpc>
            </a:pPr>
            <a:r>
              <a:rPr lang="en-US" sz="1399" spc="-31" dirty="0" err="1">
                <a:solidFill>
                  <a:srgbClr val="76777E"/>
                </a:solidFill>
                <a:latin typeface="Arial MT Pro"/>
                <a:ea typeface="Arial MT Pro"/>
                <a:cs typeface="Arial MT Pro"/>
                <a:sym typeface="Arial MT Pro"/>
              </a:rPr>
              <a:t>Zambonelli</a:t>
            </a:r>
            <a:r>
              <a:rPr lang="en-US" sz="1399" spc="-31" dirty="0">
                <a:solidFill>
                  <a:srgbClr val="76777E"/>
                </a:solidFill>
                <a:latin typeface="Arial MT Pro"/>
                <a:ea typeface="Arial MT Pro"/>
                <a:cs typeface="Arial MT Pro"/>
                <a:sym typeface="Arial MT Pro"/>
              </a:rPr>
              <a:t> Julia 1093775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E8544-345C-1967-3574-F6275D5CD00A}"/>
              </a:ext>
            </a:extLst>
          </p:cNvPr>
          <p:cNvSpPr txBox="1"/>
          <p:nvPr/>
        </p:nvSpPr>
        <p:spPr>
          <a:xfrm>
            <a:off x="382770" y="5581964"/>
            <a:ext cx="2249149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67"/>
              </a:lnSpc>
            </a:pPr>
            <a:r>
              <a:rPr lang="en-US" sz="1891" b="1" spc="-79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Homework #2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657ED-C410-BF6B-8257-0EE4F57CB971}"/>
              </a:ext>
            </a:extLst>
          </p:cNvPr>
          <p:cNvSpPr txBox="1"/>
          <p:nvPr/>
        </p:nvSpPr>
        <p:spPr>
          <a:xfrm>
            <a:off x="755454" y="435680"/>
            <a:ext cx="9685310" cy="1010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600" b="1" spc="-342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Navigazione</a:t>
            </a:r>
            <a:endParaRPr lang="en-US" sz="6600" b="1" spc="-342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E1AF4-CFF7-B152-F838-52B8F9EDF63F}"/>
              </a:ext>
            </a:extLst>
          </p:cNvPr>
          <p:cNvSpPr txBox="1"/>
          <p:nvPr/>
        </p:nvSpPr>
        <p:spPr>
          <a:xfrm>
            <a:off x="1336477" y="1693589"/>
            <a:ext cx="9685309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Per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consentire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ai </a:t>
            </a:r>
            <a:r>
              <a:rPr lang="en-US" sz="2800" b="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lettori</a:t>
            </a:r>
            <a:r>
              <a:rPr lang="en-US" sz="2800" b="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800" b="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digitali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esplorare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nuove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idee,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argomenti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innovativi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e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prospettive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differenti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algn="l">
              <a:lnSpc>
                <a:spcPts val="2733"/>
              </a:lnSpc>
            </a:pPr>
            <a:endParaRPr lang="en-US" sz="2800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>
              <a:lnSpc>
                <a:spcPts val="2733"/>
              </a:lnSpc>
            </a:pP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Per mezzo di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TEDxplore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si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rende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possible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consigliare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brevi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video con un focus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diverso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rispetto al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genere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di libri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letti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dall’utente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che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consenta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catturare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la loro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attenzione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B60F3-0C17-23EF-FF9D-D83D625709DA}"/>
              </a:ext>
            </a:extLst>
          </p:cNvPr>
          <p:cNvSpPr txBox="1"/>
          <p:nvPr/>
        </p:nvSpPr>
        <p:spPr>
          <a:xfrm>
            <a:off x="1010955" y="4726114"/>
            <a:ext cx="4083672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000" b="1" spc="-19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 </a:t>
            </a:r>
            <a:r>
              <a:rPr lang="en-US" sz="4000" b="1" spc="-19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soluzione</a:t>
            </a:r>
            <a:r>
              <a:rPr lang="en-US" sz="4000" b="1" spc="-19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D9742E5-5E53-F66D-112B-056CC8A53685}"/>
              </a:ext>
            </a:extLst>
          </p:cNvPr>
          <p:cNvSpPr txBox="1"/>
          <p:nvPr/>
        </p:nvSpPr>
        <p:spPr>
          <a:xfrm>
            <a:off x="4216147" y="4886573"/>
            <a:ext cx="812825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strutturare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una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b="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rete di video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correlati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in un data warehouse. </a:t>
            </a:r>
          </a:p>
          <a:p>
            <a:pPr algn="l">
              <a:lnSpc>
                <a:spcPts val="2733"/>
              </a:lnSpc>
            </a:pP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Possibile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ottimizzando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il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JobPyspark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su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AWS glue per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elaborare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il dataset related_videos.csv</a:t>
            </a:r>
          </a:p>
        </p:txBody>
      </p:sp>
    </p:spTree>
    <p:extLst>
      <p:ext uri="{BB962C8B-B14F-4D97-AF65-F5344CB8AC3E}">
        <p14:creationId xmlns:p14="http://schemas.microsoft.com/office/powerpoint/2010/main" val="391170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13A0-581C-41B1-E53C-774D0D74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20213-C475-7384-4874-2FCB9AED1C68}"/>
              </a:ext>
            </a:extLst>
          </p:cNvPr>
          <p:cNvSpPr txBox="1"/>
          <p:nvPr/>
        </p:nvSpPr>
        <p:spPr>
          <a:xfrm>
            <a:off x="755454" y="435680"/>
            <a:ext cx="9685310" cy="1010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600" b="1" spc="-342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Esperienza</a:t>
            </a:r>
            <a:r>
              <a:rPr lang="en-US" sz="6600" b="1" spc="-342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spc="-342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utente</a:t>
            </a:r>
            <a:endParaRPr lang="en-US" sz="6600" b="1" spc="-342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8FC39-4E68-1E1F-F555-216A6EEC9859}"/>
              </a:ext>
            </a:extLst>
          </p:cNvPr>
          <p:cNvSpPr txBox="1"/>
          <p:nvPr/>
        </p:nvSpPr>
        <p:spPr>
          <a:xfrm>
            <a:off x="1336477" y="1693589"/>
            <a:ext cx="968530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it-IT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La nostra interfaccia offre una navigazione fluida e a bassa latenza. Grazie allo schema documentale a nido, l'applicazione interroga </a:t>
            </a:r>
            <a:r>
              <a:rPr lang="it-IT" sz="2800" b="1" dirty="0">
                <a:solidFill>
                  <a:srgbClr val="C00000"/>
                </a:solidFill>
                <a:latin typeface="Arial MT Pro"/>
                <a:ea typeface="Arial MT Pro"/>
                <a:cs typeface="Arial MT Pro"/>
                <a:sym typeface="Arial MT Pro"/>
              </a:rPr>
              <a:t>un singolo record </a:t>
            </a:r>
            <a:r>
              <a:rPr lang="it-IT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e ottiene istantaneamente la lista completa dei talk correlati.</a:t>
            </a:r>
            <a:endParaRPr lang="en-US" sz="2800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0C39F-5C41-EFF1-4ADD-880B9183CD80}"/>
              </a:ext>
            </a:extLst>
          </p:cNvPr>
          <p:cNvSpPr txBox="1"/>
          <p:nvPr/>
        </p:nvSpPr>
        <p:spPr>
          <a:xfrm>
            <a:off x="956364" y="3779417"/>
            <a:ext cx="4083672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000" b="1" spc="-19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Cosa </a:t>
            </a:r>
            <a:r>
              <a:rPr lang="en-US" sz="4000" b="1" spc="-19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offriamo</a:t>
            </a:r>
            <a:r>
              <a:rPr lang="en-US" sz="4000" b="1" spc="-19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32F6D82-D9D9-DBE0-8C26-56EC0A233E57}"/>
              </a:ext>
            </a:extLst>
          </p:cNvPr>
          <p:cNvSpPr txBox="1"/>
          <p:nvPr/>
        </p:nvSpPr>
        <p:spPr>
          <a:xfrm>
            <a:off x="4407216" y="3903934"/>
            <a:ext cx="6975017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it-IT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Un'esperienza di "esplorazione guidata". L'utente non riceve solo una lista passiva, ma può </a:t>
            </a:r>
            <a:r>
              <a:rPr lang="it-IT" sz="2800" b="1" dirty="0">
                <a:solidFill>
                  <a:srgbClr val="C00000"/>
                </a:solidFill>
                <a:latin typeface="Arial MT Pro"/>
                <a:ea typeface="Arial MT Pro"/>
                <a:cs typeface="Arial MT Pro"/>
                <a:sym typeface="Arial MT Pro"/>
              </a:rPr>
              <a:t>visualizzare</a:t>
            </a:r>
            <a:r>
              <a:rPr lang="it-IT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immediatamente </a:t>
            </a:r>
            <a:r>
              <a:rPr lang="it-IT" sz="2800" b="1" dirty="0">
                <a:solidFill>
                  <a:srgbClr val="C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anteprime</a:t>
            </a:r>
            <a:r>
              <a:rPr lang="it-IT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(titoli e durate dei video consigliati) stimolando la scoperta di nuovi contenuti correlati.</a:t>
            </a:r>
            <a:endParaRPr lang="en-US" sz="2800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348989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524776E0-873F-AE6C-A9AC-F19F8FE3AEC6}"/>
              </a:ext>
            </a:extLst>
          </p:cNvPr>
          <p:cNvGrpSpPr/>
          <p:nvPr/>
        </p:nvGrpSpPr>
        <p:grpSpPr>
          <a:xfrm>
            <a:off x="819822" y="1713329"/>
            <a:ext cx="5514718" cy="679242"/>
            <a:chOff x="0" y="0"/>
            <a:chExt cx="3474169" cy="40640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73B54181-1140-FA20-8569-4593F78107BC}"/>
                </a:ext>
              </a:extLst>
            </p:cNvPr>
            <p:cNvSpPr/>
            <p:nvPr/>
          </p:nvSpPr>
          <p:spPr>
            <a:xfrm>
              <a:off x="0" y="0"/>
              <a:ext cx="3474169" cy="406400"/>
            </a:xfrm>
            <a:custGeom>
              <a:avLst/>
              <a:gdLst/>
              <a:ahLst/>
              <a:cxnLst/>
              <a:rect l="l" t="t" r="r" b="b"/>
              <a:pathLst>
                <a:path w="3474169" h="406400">
                  <a:moveTo>
                    <a:pt x="3270969" y="0"/>
                  </a:moveTo>
                  <a:cubicBezTo>
                    <a:pt x="3383193" y="0"/>
                    <a:pt x="3474169" y="90976"/>
                    <a:pt x="3474169" y="203200"/>
                  </a:cubicBezTo>
                  <a:cubicBezTo>
                    <a:pt x="3474169" y="315424"/>
                    <a:pt x="3383193" y="406400"/>
                    <a:pt x="32709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solidFill>
                <a:srgbClr val="CF443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876EBE41-D59C-411A-4460-C978F494D55D}"/>
                </a:ext>
              </a:extLst>
            </p:cNvPr>
            <p:cNvSpPr txBox="1"/>
            <p:nvPr/>
          </p:nvSpPr>
          <p:spPr>
            <a:xfrm>
              <a:off x="0" y="-38100"/>
              <a:ext cx="347416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2">
            <a:extLst>
              <a:ext uri="{FF2B5EF4-FFF2-40B4-BE49-F238E27FC236}">
                <a16:creationId xmlns:a16="http://schemas.microsoft.com/office/drawing/2014/main" id="{6E215DB7-1C0F-C5B5-9BE5-CD47BD77244D}"/>
              </a:ext>
            </a:extLst>
          </p:cNvPr>
          <p:cNvSpPr txBox="1"/>
          <p:nvPr/>
        </p:nvSpPr>
        <p:spPr>
          <a:xfrm>
            <a:off x="644781" y="494532"/>
            <a:ext cx="11547219" cy="10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600" b="1" spc="-342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 ingestion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374CF90-6B67-EC3F-919A-EE97A7051559}"/>
              </a:ext>
            </a:extLst>
          </p:cNvPr>
          <p:cNvSpPr txBox="1"/>
          <p:nvPr/>
        </p:nvSpPr>
        <p:spPr>
          <a:xfrm>
            <a:off x="1273517" y="1909716"/>
            <a:ext cx="5759517" cy="3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3306" b="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Dati </a:t>
            </a:r>
            <a:r>
              <a:rPr lang="en-US" sz="3306" b="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utilizzati</a:t>
            </a:r>
            <a:endParaRPr lang="en-US" sz="3306" b="1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B870999-7F19-890B-0540-5CC9CA4919EE}"/>
              </a:ext>
            </a:extLst>
          </p:cNvPr>
          <p:cNvSpPr txBox="1"/>
          <p:nvPr/>
        </p:nvSpPr>
        <p:spPr>
          <a:xfrm>
            <a:off x="1296150" y="2652637"/>
            <a:ext cx="832546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33"/>
              </a:lnSpc>
            </a:pPr>
            <a:endParaRPr lang="en-US" sz="2800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121FF3F-E74E-D01F-787A-532942928126}"/>
              </a:ext>
            </a:extLst>
          </p:cNvPr>
          <p:cNvSpPr txBox="1"/>
          <p:nvPr/>
        </p:nvSpPr>
        <p:spPr>
          <a:xfrm>
            <a:off x="1296150" y="2617910"/>
            <a:ext cx="897428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dirty="0"/>
              <a:t> </a:t>
            </a:r>
            <a:r>
              <a:rPr lang="it-IT" sz="2800" i="1" dirty="0"/>
              <a:t>final_list.csv:</a:t>
            </a:r>
            <a:r>
              <a:rPr lang="it-IT" sz="2800" dirty="0"/>
              <a:t> Elenco principale dei talk TEDx.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details.csv</a:t>
            </a:r>
            <a:r>
              <a:rPr lang="it-IT" sz="2800" dirty="0"/>
              <a:t>: Metadati descrittivi, durata e date di pubblicazione.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tags.csv</a:t>
            </a:r>
            <a:r>
              <a:rPr lang="it-IT" sz="2800" dirty="0"/>
              <a:t>: Parola chiave associate a ciascun video per la categorizzazione semantica.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related_videos.csv</a:t>
            </a:r>
            <a:r>
              <a:rPr lang="it-IT" sz="2800" dirty="0"/>
              <a:t>: La base dati fondamentale per mappare le relazioni tra i video consigliati (</a:t>
            </a:r>
            <a:r>
              <a:rPr lang="it-IT" sz="2800" b="1" dirty="0" err="1">
                <a:solidFill>
                  <a:srgbClr val="CF4432"/>
                </a:solidFill>
              </a:rPr>
              <a:t>watch_next</a:t>
            </a:r>
            <a:r>
              <a:rPr lang="it-IT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5257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0561-A66B-0CB3-7A20-76C34DD8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699587C-0A7A-F973-6375-A02EBF4E3D7D}"/>
              </a:ext>
            </a:extLst>
          </p:cNvPr>
          <p:cNvSpPr txBox="1"/>
          <p:nvPr/>
        </p:nvSpPr>
        <p:spPr>
          <a:xfrm>
            <a:off x="1481291" y="589945"/>
            <a:ext cx="2555697" cy="914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3310" b="1" spc="-342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Bucket S3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56EE97C-2568-3FF6-661B-6DBC46A0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11" y="2991678"/>
            <a:ext cx="10255777" cy="33339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1E063D3-48CF-A30A-C714-22A01C83C399}"/>
              </a:ext>
            </a:extLst>
          </p:cNvPr>
          <p:cNvGrpSpPr/>
          <p:nvPr/>
        </p:nvGrpSpPr>
        <p:grpSpPr>
          <a:xfrm>
            <a:off x="968111" y="943833"/>
            <a:ext cx="5514718" cy="679242"/>
            <a:chOff x="0" y="0"/>
            <a:chExt cx="3474169" cy="406400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03E2C5F8-DD07-EAF7-F73E-C7F6DA5A6386}"/>
                </a:ext>
              </a:extLst>
            </p:cNvPr>
            <p:cNvSpPr/>
            <p:nvPr/>
          </p:nvSpPr>
          <p:spPr>
            <a:xfrm>
              <a:off x="0" y="0"/>
              <a:ext cx="3474169" cy="406400"/>
            </a:xfrm>
            <a:custGeom>
              <a:avLst/>
              <a:gdLst/>
              <a:ahLst/>
              <a:cxnLst/>
              <a:rect l="l" t="t" r="r" b="b"/>
              <a:pathLst>
                <a:path w="3474169" h="406400">
                  <a:moveTo>
                    <a:pt x="3270969" y="0"/>
                  </a:moveTo>
                  <a:cubicBezTo>
                    <a:pt x="3383193" y="0"/>
                    <a:pt x="3474169" y="90976"/>
                    <a:pt x="3474169" y="203200"/>
                  </a:cubicBezTo>
                  <a:cubicBezTo>
                    <a:pt x="3474169" y="315424"/>
                    <a:pt x="3383193" y="406400"/>
                    <a:pt x="32709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solidFill>
                <a:srgbClr val="CF443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73F18EAC-8BB6-7CB6-72C7-E6CCEB6237A8}"/>
                </a:ext>
              </a:extLst>
            </p:cNvPr>
            <p:cNvSpPr txBox="1"/>
            <p:nvPr/>
          </p:nvSpPr>
          <p:spPr>
            <a:xfrm>
              <a:off x="0" y="-38100"/>
              <a:ext cx="347416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3">
            <a:extLst>
              <a:ext uri="{FF2B5EF4-FFF2-40B4-BE49-F238E27FC236}">
                <a16:creationId xmlns:a16="http://schemas.microsoft.com/office/drawing/2014/main" id="{06C80ED0-C235-7BCB-D812-2AF78A878A9E}"/>
              </a:ext>
            </a:extLst>
          </p:cNvPr>
          <p:cNvSpPr txBox="1"/>
          <p:nvPr/>
        </p:nvSpPr>
        <p:spPr>
          <a:xfrm>
            <a:off x="1481291" y="1948892"/>
            <a:ext cx="9186709" cy="10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Utilizziamo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un bucket S3 per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archiviare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dati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00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grezzi</a:t>
            </a:r>
            <a:r>
              <a:rPr lang="en-US" sz="2800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algn="l">
              <a:lnSpc>
                <a:spcPts val="2733"/>
              </a:lnSpc>
            </a:pPr>
            <a:b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</a:br>
            <a:endParaRPr lang="en-US" sz="3106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11041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868167" y="559519"/>
            <a:ext cx="6964167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7"/>
              </a:lnSpc>
            </a:pPr>
            <a:r>
              <a:rPr lang="en-US" sz="5439" b="1" spc="-228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Job </a:t>
            </a:r>
            <a:r>
              <a:rPr lang="en-US" sz="5439" b="1" spc="-228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PySpark</a:t>
            </a:r>
            <a:endParaRPr lang="en-US" sz="5439" b="1" spc="-228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354773" y="2266616"/>
            <a:ext cx="3482455" cy="3478112"/>
            <a:chOff x="0" y="0"/>
            <a:chExt cx="1375785" cy="13740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5785" cy="1374069"/>
            </a:xfrm>
            <a:custGeom>
              <a:avLst/>
              <a:gdLst/>
              <a:ahLst/>
              <a:cxnLst/>
              <a:rect l="l" t="t" r="r" b="b"/>
              <a:pathLst>
                <a:path w="1375785" h="1374069">
                  <a:moveTo>
                    <a:pt x="0" y="0"/>
                  </a:moveTo>
                  <a:lnTo>
                    <a:pt x="1375785" y="0"/>
                  </a:lnTo>
                  <a:lnTo>
                    <a:pt x="1375785" y="1374069"/>
                  </a:lnTo>
                  <a:lnTo>
                    <a:pt x="0" y="1374069"/>
                  </a:lnTo>
                  <a:close/>
                </a:path>
              </a:pathLst>
            </a:custGeom>
            <a:solidFill>
              <a:srgbClr val="CF4432"/>
            </a:solid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375785" cy="13550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925"/>
                </a:lnSpc>
              </a:pPr>
              <a:endParaRPr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54909" y="2528947"/>
            <a:ext cx="255261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7"/>
              </a:lnSpc>
            </a:pPr>
            <a:r>
              <a:rPr lang="en-US" sz="1891" b="1" spc="-79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89786" y="3384550"/>
            <a:ext cx="3094882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Utilizziamo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una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struct per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raggruppare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video correlate,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che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ci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permette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creare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una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struttura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contente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id,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titolo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e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durata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dei</a:t>
            </a:r>
            <a: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video </a:t>
            </a:r>
            <a:r>
              <a:rPr lang="en-US" sz="1625" spc="-68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stessi</a:t>
            </a:r>
            <a:br>
              <a:rPr lang="en-US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</a:br>
            <a:endParaRPr lang="en-US" sz="1625" spc="-68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037364" y="2266616"/>
            <a:ext cx="3482455" cy="3478112"/>
            <a:chOff x="0" y="0"/>
            <a:chExt cx="1375785" cy="13740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5785" cy="1374069"/>
            </a:xfrm>
            <a:custGeom>
              <a:avLst/>
              <a:gdLst/>
              <a:ahLst/>
              <a:cxnLst/>
              <a:rect l="l" t="t" r="r" b="b"/>
              <a:pathLst>
                <a:path w="1375785" h="1374069">
                  <a:moveTo>
                    <a:pt x="0" y="0"/>
                  </a:moveTo>
                  <a:lnTo>
                    <a:pt x="1375785" y="0"/>
                  </a:lnTo>
                  <a:lnTo>
                    <a:pt x="1375785" y="1374069"/>
                  </a:lnTo>
                  <a:lnTo>
                    <a:pt x="0" y="13740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375785" cy="13550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925"/>
                </a:lnSpc>
              </a:pPr>
              <a:endParaRPr sz="12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361215" y="2528947"/>
            <a:ext cx="2377178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7"/>
              </a:lnSpc>
            </a:pPr>
            <a:r>
              <a:rPr lang="en-US" sz="1891" b="1" spc="-79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STRUCT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31150" y="3296493"/>
            <a:ext cx="3094882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5431" lvl="1">
              <a:lnSpc>
                <a:spcPts val="1690"/>
              </a:lnSpc>
            </a:pPr>
            <a:br>
              <a:rPr lang="en-US" sz="1625" b="1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</a:br>
            <a:r>
              <a:rPr lang="en-US" sz="1625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 struct ci </a:t>
            </a:r>
            <a:r>
              <a:rPr lang="en-US" sz="1625" spc="-68" dirty="0" err="1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risparmia</a:t>
            </a:r>
            <a:r>
              <a:rPr lang="en-US" sz="1625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query </a:t>
            </a:r>
            <a:r>
              <a:rPr lang="en-US" sz="1625" spc="-68" dirty="0" err="1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aggiuntive</a:t>
            </a:r>
            <a:r>
              <a:rPr lang="en-US" sz="1625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1625" spc="-68" dirty="0" err="1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risparmiando</a:t>
            </a:r>
            <a:r>
              <a:rPr lang="en-US" sz="1625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tempo (e </a:t>
            </a:r>
            <a:r>
              <a:rPr lang="en-US" sz="1625" spc="-68" dirty="0" err="1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denaro</a:t>
            </a:r>
            <a:r>
              <a:rPr lang="en-US" sz="1625" spc="-68" dirty="0">
                <a:solidFill>
                  <a:srgbClr val="08090D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)</a:t>
            </a:r>
            <a:endParaRPr lang="en-US" sz="1625" spc="-68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>
              <a:lnSpc>
                <a:spcPts val="1690"/>
              </a:lnSpc>
            </a:pPr>
            <a:endParaRPr lang="en-US" sz="1625" spc="-68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>
              <a:lnSpc>
                <a:spcPts val="1690"/>
              </a:lnSpc>
            </a:pPr>
            <a:endParaRPr lang="en-US" sz="1625" spc="-68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0C5F6A0A-1DE9-9221-2DC2-BEF3959E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2" y="2078348"/>
            <a:ext cx="3778444" cy="3854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EAFB-E7B7-AFF0-07B9-E19B7180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FC1CF38-FCDF-1A7B-4C18-0AACCC8B9AE8}"/>
              </a:ext>
            </a:extLst>
          </p:cNvPr>
          <p:cNvSpPr txBox="1"/>
          <p:nvPr/>
        </p:nvSpPr>
        <p:spPr>
          <a:xfrm>
            <a:off x="1190882" y="740480"/>
            <a:ext cx="11547219" cy="10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600" b="1" spc="-342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Schema</a:t>
            </a: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92247F4C-B3F9-C8E9-3015-E9FE935E8F5A}"/>
              </a:ext>
            </a:extLst>
          </p:cNvPr>
          <p:cNvSpPr/>
          <p:nvPr/>
        </p:nvSpPr>
        <p:spPr>
          <a:xfrm>
            <a:off x="731520" y="1963460"/>
            <a:ext cx="3599848" cy="4389214"/>
          </a:xfrm>
          <a:custGeom>
            <a:avLst/>
            <a:gdLst/>
            <a:ahLst/>
            <a:cxnLst/>
            <a:rect l="l" t="t" r="r" b="b"/>
            <a:pathLst>
              <a:path w="10852650" h="7691816">
                <a:moveTo>
                  <a:pt x="0" y="0"/>
                </a:moveTo>
                <a:lnTo>
                  <a:pt x="10852651" y="0"/>
                </a:lnTo>
                <a:lnTo>
                  <a:pt x="10852651" y="7691816"/>
                </a:lnTo>
                <a:lnTo>
                  <a:pt x="0" y="769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15" r="-50801"/>
            </a:stretch>
          </a:blipFill>
          <a:ln w="19050" cap="sq">
            <a:solidFill>
              <a:srgbClr val="CF4432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1E60869-3266-4E6B-2621-C253677417D5}"/>
              </a:ext>
            </a:extLst>
          </p:cNvPr>
          <p:cNvSpPr txBox="1"/>
          <p:nvPr/>
        </p:nvSpPr>
        <p:spPr>
          <a:xfrm>
            <a:off x="4751620" y="1874728"/>
            <a:ext cx="66158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I dati elaborati dal </a:t>
            </a:r>
            <a:r>
              <a:rPr lang="it-IT" sz="2800" dirty="0" err="1"/>
              <a:t>DynamicFrame</a:t>
            </a:r>
            <a:r>
              <a:rPr lang="it-IT" sz="2800" dirty="0"/>
              <a:t> di AWS Glue vengono persistiti nel Data </a:t>
            </a:r>
            <a:r>
              <a:rPr lang="it-IT" sz="2800" dirty="0" err="1"/>
              <a:t>Warehouse</a:t>
            </a:r>
            <a:r>
              <a:rPr lang="it-IT" sz="2800" dirty="0"/>
              <a:t> </a:t>
            </a:r>
            <a:r>
              <a:rPr lang="it-IT" sz="2800" dirty="0" err="1"/>
              <a:t>NoSQL</a:t>
            </a:r>
            <a:r>
              <a:rPr lang="it-IT" sz="2800" dirty="0"/>
              <a:t> gestito su </a:t>
            </a:r>
            <a:r>
              <a:rPr lang="it-IT" sz="2800" b="1" dirty="0" err="1">
                <a:solidFill>
                  <a:srgbClr val="C00000"/>
                </a:solidFill>
              </a:rPr>
              <a:t>MongoDB</a:t>
            </a:r>
            <a:r>
              <a:rPr lang="it-IT" sz="2800" b="1" dirty="0">
                <a:solidFill>
                  <a:srgbClr val="C00000"/>
                </a:solidFill>
              </a:rPr>
              <a:t> Atlas</a:t>
            </a:r>
            <a:r>
              <a:rPr lang="it-IT" sz="2800" dirty="0"/>
              <a:t>. </a:t>
            </a:r>
            <a:br>
              <a:rPr lang="it-IT" sz="2800" dirty="0"/>
            </a:br>
            <a:r>
              <a:rPr lang="it-IT" sz="2800" dirty="0" err="1"/>
              <a:t>Nested</a:t>
            </a:r>
            <a:r>
              <a:rPr lang="it-IT" sz="2800" dirty="0"/>
              <a:t> Schema: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id</a:t>
            </a:r>
            <a:endParaRPr lang="it-I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 err="1"/>
              <a:t>description</a:t>
            </a:r>
            <a:r>
              <a:rPr lang="it-IT" sz="2800" i="1" dirty="0"/>
              <a:t>; duration; </a:t>
            </a:r>
            <a:r>
              <a:rPr lang="it-IT" sz="2800" i="1" dirty="0" err="1"/>
              <a:t>publishedAt</a:t>
            </a:r>
            <a:endParaRPr lang="it-IT" sz="2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i="1" dirty="0"/>
              <a:t> </a:t>
            </a:r>
            <a:r>
              <a:rPr lang="it-IT" sz="2800" i="1" dirty="0" err="1"/>
              <a:t>related_videos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63766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96EC-AD6F-FEA7-E6C4-8BDD8AE9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4B8328D2-A8A9-629B-3979-F79BC2DB58F4}"/>
              </a:ext>
            </a:extLst>
          </p:cNvPr>
          <p:cNvGrpSpPr/>
          <p:nvPr/>
        </p:nvGrpSpPr>
        <p:grpSpPr>
          <a:xfrm>
            <a:off x="1190882" y="2203659"/>
            <a:ext cx="5514718" cy="679242"/>
            <a:chOff x="0" y="0"/>
            <a:chExt cx="3474169" cy="40640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E8435D50-11C3-D953-04BD-3B42FD20A32E}"/>
                </a:ext>
              </a:extLst>
            </p:cNvPr>
            <p:cNvSpPr/>
            <p:nvPr/>
          </p:nvSpPr>
          <p:spPr>
            <a:xfrm>
              <a:off x="0" y="0"/>
              <a:ext cx="3474169" cy="406400"/>
            </a:xfrm>
            <a:custGeom>
              <a:avLst/>
              <a:gdLst/>
              <a:ahLst/>
              <a:cxnLst/>
              <a:rect l="l" t="t" r="r" b="b"/>
              <a:pathLst>
                <a:path w="3474169" h="406400">
                  <a:moveTo>
                    <a:pt x="3270969" y="0"/>
                  </a:moveTo>
                  <a:cubicBezTo>
                    <a:pt x="3383193" y="0"/>
                    <a:pt x="3474169" y="90976"/>
                    <a:pt x="3474169" y="203200"/>
                  </a:cubicBezTo>
                  <a:cubicBezTo>
                    <a:pt x="3474169" y="315424"/>
                    <a:pt x="3383193" y="406400"/>
                    <a:pt x="32709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solidFill>
                <a:srgbClr val="CF443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580FEAFA-B73A-D0E2-AADC-6BE9958B1879}"/>
                </a:ext>
              </a:extLst>
            </p:cNvPr>
            <p:cNvSpPr txBox="1"/>
            <p:nvPr/>
          </p:nvSpPr>
          <p:spPr>
            <a:xfrm>
              <a:off x="0" y="-38100"/>
              <a:ext cx="347416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2">
            <a:extLst>
              <a:ext uri="{FF2B5EF4-FFF2-40B4-BE49-F238E27FC236}">
                <a16:creationId xmlns:a16="http://schemas.microsoft.com/office/drawing/2014/main" id="{A56C148A-E4C1-379E-EE9B-4091DAD97D57}"/>
              </a:ext>
            </a:extLst>
          </p:cNvPr>
          <p:cNvSpPr txBox="1"/>
          <p:nvPr/>
        </p:nvSpPr>
        <p:spPr>
          <a:xfrm>
            <a:off x="1190882" y="740480"/>
            <a:ext cx="11547219" cy="10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600" b="1" spc="-342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Criticità</a:t>
            </a:r>
            <a:endParaRPr lang="en-US" sz="6600" b="1" spc="-342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B027B7E-FEC9-78A1-B4D6-4B4C6402F602}"/>
              </a:ext>
            </a:extLst>
          </p:cNvPr>
          <p:cNvSpPr txBox="1"/>
          <p:nvPr/>
        </p:nvSpPr>
        <p:spPr>
          <a:xfrm>
            <a:off x="1415977" y="2406946"/>
            <a:ext cx="5759517" cy="3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3306" b="1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Mappatura</a:t>
            </a:r>
            <a:endParaRPr lang="en-US" sz="3306" b="1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E11CB06E-8EED-FE57-829A-E979C2527A2D}"/>
              </a:ext>
            </a:extLst>
          </p:cNvPr>
          <p:cNvGrpSpPr/>
          <p:nvPr/>
        </p:nvGrpSpPr>
        <p:grpSpPr>
          <a:xfrm>
            <a:off x="1190882" y="4448906"/>
            <a:ext cx="5514718" cy="679242"/>
            <a:chOff x="0" y="0"/>
            <a:chExt cx="3474169" cy="406400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7E58106-7AAB-F521-47EF-A1CB91EC9718}"/>
                </a:ext>
              </a:extLst>
            </p:cNvPr>
            <p:cNvSpPr/>
            <p:nvPr/>
          </p:nvSpPr>
          <p:spPr>
            <a:xfrm>
              <a:off x="0" y="0"/>
              <a:ext cx="3474169" cy="406400"/>
            </a:xfrm>
            <a:custGeom>
              <a:avLst/>
              <a:gdLst/>
              <a:ahLst/>
              <a:cxnLst/>
              <a:rect l="l" t="t" r="r" b="b"/>
              <a:pathLst>
                <a:path w="3474169" h="406400">
                  <a:moveTo>
                    <a:pt x="3270969" y="0"/>
                  </a:moveTo>
                  <a:cubicBezTo>
                    <a:pt x="3383193" y="0"/>
                    <a:pt x="3474169" y="90976"/>
                    <a:pt x="3474169" y="203200"/>
                  </a:cubicBezTo>
                  <a:cubicBezTo>
                    <a:pt x="3474169" y="315424"/>
                    <a:pt x="3383193" y="406400"/>
                    <a:pt x="32709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solidFill>
                <a:srgbClr val="CF443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B1FE59B2-3736-03EE-365F-F973FC71A985}"/>
                </a:ext>
              </a:extLst>
            </p:cNvPr>
            <p:cNvSpPr txBox="1"/>
            <p:nvPr/>
          </p:nvSpPr>
          <p:spPr>
            <a:xfrm>
              <a:off x="0" y="-38100"/>
              <a:ext cx="347416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CA5FE10C-1264-D08B-B28B-FF0D62A91692}"/>
              </a:ext>
            </a:extLst>
          </p:cNvPr>
          <p:cNvSpPr txBox="1"/>
          <p:nvPr/>
        </p:nvSpPr>
        <p:spPr>
          <a:xfrm>
            <a:off x="1415977" y="4652193"/>
            <a:ext cx="5759517" cy="3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3306" b="1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Struct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81DA57E-CE95-5E47-59D4-802A24B96574}"/>
              </a:ext>
            </a:extLst>
          </p:cNvPr>
          <p:cNvSpPr txBox="1"/>
          <p:nvPr/>
        </p:nvSpPr>
        <p:spPr>
          <a:xfrm>
            <a:off x="1644577" y="3042867"/>
            <a:ext cx="8128254" cy="10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Difficoltà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nel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mappare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correttamente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le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corrispondenze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tra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colonne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related_videos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e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gli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identificativi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principali</a:t>
            </a:r>
            <a:endParaRPr lang="en-US" sz="3106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194BDD06-7E50-5B32-D4C5-7E777405DC87}"/>
              </a:ext>
            </a:extLst>
          </p:cNvPr>
          <p:cNvSpPr txBox="1"/>
          <p:nvPr/>
        </p:nvSpPr>
        <p:spPr>
          <a:xfrm>
            <a:off x="1644577" y="5302698"/>
            <a:ext cx="8128254" cy="696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Necessità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convertire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strutture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tabellari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in array di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oggetti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JSON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adatti</a:t>
            </a:r>
            <a:r>
              <a:rPr lang="en-US" sz="3106" dirty="0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 a </a:t>
            </a:r>
            <a:r>
              <a:rPr lang="en-US" sz="3106" dirty="0" err="1">
                <a:solidFill>
                  <a:srgbClr val="08090D"/>
                </a:solidFill>
                <a:latin typeface="Arial MT Pro"/>
                <a:ea typeface="Arial MT Pro"/>
                <a:cs typeface="Arial MT Pro"/>
                <a:sym typeface="Arial MT Pro"/>
              </a:rPr>
              <a:t>mongoDB</a:t>
            </a:r>
            <a:endParaRPr lang="en-US" sz="3106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416786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6178-5ED6-D81C-2117-82FF2EC5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3942F2-4170-8C44-E87C-78BA15FC16CD}"/>
              </a:ext>
            </a:extLst>
          </p:cNvPr>
          <p:cNvGrpSpPr/>
          <p:nvPr/>
        </p:nvGrpSpPr>
        <p:grpSpPr>
          <a:xfrm>
            <a:off x="685801" y="2266616"/>
            <a:ext cx="3482455" cy="3478112"/>
            <a:chOff x="0" y="0"/>
            <a:chExt cx="1375785" cy="13740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362B0F-2499-A154-7465-ABFBBC06B853}"/>
                </a:ext>
              </a:extLst>
            </p:cNvPr>
            <p:cNvSpPr/>
            <p:nvPr/>
          </p:nvSpPr>
          <p:spPr>
            <a:xfrm>
              <a:off x="0" y="0"/>
              <a:ext cx="1375785" cy="1374069"/>
            </a:xfrm>
            <a:custGeom>
              <a:avLst/>
              <a:gdLst/>
              <a:ahLst/>
              <a:cxnLst/>
              <a:rect l="l" t="t" r="r" b="b"/>
              <a:pathLst>
                <a:path w="1375785" h="1374069">
                  <a:moveTo>
                    <a:pt x="0" y="0"/>
                  </a:moveTo>
                  <a:lnTo>
                    <a:pt x="1375785" y="0"/>
                  </a:lnTo>
                  <a:lnTo>
                    <a:pt x="1375785" y="1374069"/>
                  </a:lnTo>
                  <a:lnTo>
                    <a:pt x="0" y="13740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55D078-48C5-C0C6-BACD-E2D81B5D7A89}"/>
                </a:ext>
              </a:extLst>
            </p:cNvPr>
            <p:cNvSpPr txBox="1"/>
            <p:nvPr/>
          </p:nvSpPr>
          <p:spPr>
            <a:xfrm>
              <a:off x="0" y="19050"/>
              <a:ext cx="1375785" cy="13550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925"/>
                </a:lnSpc>
              </a:pPr>
              <a:endParaRPr sz="120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871FC7B-E7F9-EE42-1F4F-550F9870A996}"/>
              </a:ext>
            </a:extLst>
          </p:cNvPr>
          <p:cNvSpPr txBox="1"/>
          <p:nvPr/>
        </p:nvSpPr>
        <p:spPr>
          <a:xfrm>
            <a:off x="1349456" y="666750"/>
            <a:ext cx="6964167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7"/>
              </a:lnSpc>
            </a:pPr>
            <a:r>
              <a:rPr lang="en-US" sz="5439" b="1" spc="-228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Possibili</a:t>
            </a:r>
            <a:r>
              <a:rPr lang="en-US" sz="5439" b="1" spc="-228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439" b="1" spc="-228" dirty="0" err="1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evoluzioni</a:t>
            </a:r>
            <a:endParaRPr lang="en-US" sz="5439" b="1" spc="-228" dirty="0">
              <a:solidFill>
                <a:srgbClr val="CF4432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2A8B201-FFB9-B807-D46D-AE7EA9C6EA6F}"/>
              </a:ext>
            </a:extLst>
          </p:cNvPr>
          <p:cNvSpPr txBox="1"/>
          <p:nvPr/>
        </p:nvSpPr>
        <p:spPr>
          <a:xfrm>
            <a:off x="885937" y="2528947"/>
            <a:ext cx="2249149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67"/>
              </a:lnSpc>
            </a:pPr>
            <a:r>
              <a:rPr lang="en-US" sz="1891" b="1" spc="-79" dirty="0">
                <a:solidFill>
                  <a:srgbClr val="CF44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LAMBDA FUNCTION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CF613BE-0AD5-8639-20DD-3D878046152E}"/>
              </a:ext>
            </a:extLst>
          </p:cNvPr>
          <p:cNvSpPr txBox="1"/>
          <p:nvPr/>
        </p:nvSpPr>
        <p:spPr>
          <a:xfrm>
            <a:off x="820814" y="3384550"/>
            <a:ext cx="3094882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it-IT" sz="1600" dirty="0"/>
              <a:t>Sviluppo della logica di </a:t>
            </a:r>
            <a:r>
              <a:rPr lang="it-IT" sz="1600" dirty="0" err="1"/>
              <a:t>backend</a:t>
            </a:r>
            <a:r>
              <a:rPr lang="it-IT" sz="1600" dirty="0"/>
              <a:t> incaricata di connettersi a </a:t>
            </a:r>
            <a:r>
              <a:rPr lang="it-IT" sz="1600" dirty="0" err="1"/>
              <a:t>MongoDB</a:t>
            </a:r>
            <a:r>
              <a:rPr lang="it-IT" sz="1600" dirty="0"/>
              <a:t> Atlas ed eseguire la funzione </a:t>
            </a:r>
            <a:r>
              <a:rPr lang="it-IT" dirty="0" err="1"/>
              <a:t>Get_Watch_Next_by_Idx</a:t>
            </a:r>
            <a:br>
              <a:rPr lang="it-IT" dirty="0"/>
            </a:br>
            <a:endParaRPr lang="en-US" sz="1625" spc="-68" dirty="0">
              <a:solidFill>
                <a:srgbClr val="08090D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AB4CB2E-6D0B-D6BE-9489-46FFAE3DCE0D}"/>
              </a:ext>
            </a:extLst>
          </p:cNvPr>
          <p:cNvGrpSpPr/>
          <p:nvPr/>
        </p:nvGrpSpPr>
        <p:grpSpPr>
          <a:xfrm>
            <a:off x="4354773" y="2266616"/>
            <a:ext cx="3482455" cy="3478112"/>
            <a:chOff x="0" y="0"/>
            <a:chExt cx="1375785" cy="137406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2B9BA97-70DC-C495-AE88-96565D4A6E8C}"/>
                </a:ext>
              </a:extLst>
            </p:cNvPr>
            <p:cNvSpPr/>
            <p:nvPr/>
          </p:nvSpPr>
          <p:spPr>
            <a:xfrm>
              <a:off x="0" y="0"/>
              <a:ext cx="1375785" cy="1374069"/>
            </a:xfrm>
            <a:custGeom>
              <a:avLst/>
              <a:gdLst/>
              <a:ahLst/>
              <a:cxnLst/>
              <a:rect l="l" t="t" r="r" b="b"/>
              <a:pathLst>
                <a:path w="1375785" h="1374069">
                  <a:moveTo>
                    <a:pt x="0" y="0"/>
                  </a:moveTo>
                  <a:lnTo>
                    <a:pt x="1375785" y="0"/>
                  </a:lnTo>
                  <a:lnTo>
                    <a:pt x="1375785" y="1374069"/>
                  </a:lnTo>
                  <a:lnTo>
                    <a:pt x="0" y="1374069"/>
                  </a:lnTo>
                  <a:close/>
                </a:path>
              </a:pathLst>
            </a:custGeom>
            <a:solidFill>
              <a:srgbClr val="CF4432"/>
            </a:solid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4FE4DB5-C2EC-555A-05C1-AADE022E6305}"/>
                </a:ext>
              </a:extLst>
            </p:cNvPr>
            <p:cNvSpPr txBox="1"/>
            <p:nvPr/>
          </p:nvSpPr>
          <p:spPr>
            <a:xfrm>
              <a:off x="0" y="19050"/>
              <a:ext cx="1375785" cy="13550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925"/>
                </a:lnSpc>
              </a:pPr>
              <a:endParaRPr sz="120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A019A11-24EF-64ED-36B9-3B46B3B5BD8B}"/>
              </a:ext>
            </a:extLst>
          </p:cNvPr>
          <p:cNvSpPr txBox="1"/>
          <p:nvPr/>
        </p:nvSpPr>
        <p:spPr>
          <a:xfrm>
            <a:off x="4554909" y="2528947"/>
            <a:ext cx="255261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7"/>
              </a:lnSpc>
            </a:pPr>
            <a:r>
              <a:rPr lang="en-US" sz="1891" b="1" spc="-79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D22CD41-EFE6-6F72-BA71-5E9EE035AB1D}"/>
              </a:ext>
            </a:extLst>
          </p:cNvPr>
          <p:cNvSpPr txBox="1"/>
          <p:nvPr/>
        </p:nvSpPr>
        <p:spPr>
          <a:xfrm>
            <a:off x="4489786" y="3384550"/>
            <a:ext cx="309488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it-IT" sz="1625" spc="-68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Esposizione degli endpoint REST per consentire all'applicazione Flutter di consumare i servizi in totale sicurezza da remoto.</a:t>
            </a:r>
            <a:endParaRPr lang="en-US" sz="1625" spc="-68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809276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406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Arial</vt:lpstr>
      <vt:lpstr>Arial MT Pro</vt:lpstr>
      <vt:lpstr>Arial MT Pro Bold</vt:lpstr>
      <vt:lpstr>Calibri</vt:lpstr>
      <vt:lpstr>Calibri Light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Gandolfi</dc:creator>
  <cp:lastModifiedBy>Leonardo Gandolfi</cp:lastModifiedBy>
  <cp:revision>5</cp:revision>
  <dcterms:created xsi:type="dcterms:W3CDTF">2026-05-19T18:34:20Z</dcterms:created>
  <dcterms:modified xsi:type="dcterms:W3CDTF">2026-05-22T07:44:13Z</dcterms:modified>
</cp:coreProperties>
</file>